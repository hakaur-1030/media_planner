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f07a4028074343" /><Relationship Type="http://schemas.openxmlformats.org/officeDocument/2006/relationships/extended-properties" Target="/docProps/app.xml" Id="R4338aeeb728043c8" /><Relationship Type="http://schemas.openxmlformats.org/officeDocument/2006/relationships/officeDocument" Target="/ppt/presentation.xml" Id="Rc7d493eaba244a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8c8fde6044bf4"/>
  </p:sldMasterIdLst>
  <p:notesMasterIdLst>
    <p:notesMasterId xmlns:r="http://schemas.openxmlformats.org/officeDocument/2006/relationships" r:id="R3cb0cd62e970420c"/>
  </p:notesMasterIdLst>
  <p:sldIdLst>
    <p:sldId xmlns:r="http://schemas.openxmlformats.org/officeDocument/2006/relationships" id="256" r:id="Rd27e158f273842e0"/>
    <p:sldId xmlns:r="http://schemas.openxmlformats.org/officeDocument/2006/relationships" id="257" r:id="Rb179ee2c43204698"/>
    <p:sldId xmlns:r="http://schemas.openxmlformats.org/officeDocument/2006/relationships" id="258" r:id="Rc39480df2e3248d4"/>
    <p:sldId xmlns:r="http://schemas.openxmlformats.org/officeDocument/2006/relationships" id="259" r:id="R8a510bf456834441"/>
    <p:sldId xmlns:r="http://schemas.openxmlformats.org/officeDocument/2006/relationships" id="260" r:id="R6db72922f28e402b"/>
    <p:sldId xmlns:r="http://schemas.openxmlformats.org/officeDocument/2006/relationships" id="261" r:id="R5687ffa88f0740e5"/>
    <p:sldId xmlns:r="http://schemas.openxmlformats.org/officeDocument/2006/relationships" id="262" r:id="Rc9b4173aa90e4a40"/>
    <p:sldId xmlns:r="http://schemas.openxmlformats.org/officeDocument/2006/relationships" id="263" r:id="R78f3d0d3b3c34baf"/>
    <p:sldId xmlns:r="http://schemas.openxmlformats.org/officeDocument/2006/relationships" id="264" r:id="R1f79538ecf644149"/>
    <p:sldId xmlns:r="http://schemas.openxmlformats.org/officeDocument/2006/relationships" id="265" r:id="R2e84a358315a4563"/>
    <p:sldId xmlns:r="http://schemas.openxmlformats.org/officeDocument/2006/relationships" id="266" r:id="R40dea28e33c2458c"/>
    <p:sldId xmlns:r="http://schemas.openxmlformats.org/officeDocument/2006/relationships" id="267" r:id="Radfe33f427e4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01bc2d0c74580" /><Relationship Type="http://schemas.openxmlformats.org/officeDocument/2006/relationships/slideMaster" Target="/ppt/slideMasters/slideMaster1.xml" Id="Ra2b8c8fde6044bf4" /><Relationship Type="http://schemas.openxmlformats.org/officeDocument/2006/relationships/notesMaster" Target="/ppt/notesMasters/notesMaster1.xml" Id="R3cb0cd62e970420c" /><Relationship Type="http://schemas.openxmlformats.org/officeDocument/2006/relationships/presProps" Target="/ppt/presProps.xml" Id="Rd2a330cff3bc449a" /><Relationship Type="http://schemas.openxmlformats.org/officeDocument/2006/relationships/tableStyles" Target="/ppt/tableStyles.xml" Id="Rabb64055086944cb" /><Relationship Type="http://schemas.openxmlformats.org/officeDocument/2006/relationships/slide" Target="/ppt/slides/slide1.xml" Id="Rd27e158f273842e0" /><Relationship Type="http://schemas.openxmlformats.org/officeDocument/2006/relationships/slide" Target="/ppt/slides/slide2.xml" Id="Rb179ee2c43204698" /><Relationship Type="http://schemas.openxmlformats.org/officeDocument/2006/relationships/slide" Target="/ppt/slides/slide3.xml" Id="Rc39480df2e3248d4" /><Relationship Type="http://schemas.openxmlformats.org/officeDocument/2006/relationships/slide" Target="/ppt/slides/slide4.xml" Id="R8a510bf456834441" /><Relationship Type="http://schemas.openxmlformats.org/officeDocument/2006/relationships/slide" Target="/ppt/slides/slide5.xml" Id="R6db72922f28e402b" /><Relationship Type="http://schemas.openxmlformats.org/officeDocument/2006/relationships/slide" Target="/ppt/slides/slide6.xml" Id="R5687ffa88f0740e5" /><Relationship Type="http://schemas.openxmlformats.org/officeDocument/2006/relationships/slide" Target="/ppt/slides/slide7.xml" Id="Rc9b4173aa90e4a40" /><Relationship Type="http://schemas.openxmlformats.org/officeDocument/2006/relationships/slide" Target="/ppt/slides/slide8.xml" Id="R78f3d0d3b3c34baf" /><Relationship Type="http://schemas.openxmlformats.org/officeDocument/2006/relationships/slide" Target="/ppt/slides/slide9.xml" Id="R1f79538ecf644149" /><Relationship Type="http://schemas.openxmlformats.org/officeDocument/2006/relationships/slide" Target="/ppt/slides/slide10.xml" Id="R2e84a358315a4563" /><Relationship Type="http://schemas.openxmlformats.org/officeDocument/2006/relationships/slide" Target="/ppt/slides/slide11.xml" Id="R40dea28e33c2458c" /><Relationship Type="http://schemas.openxmlformats.org/officeDocument/2006/relationships/slide" Target="/ppt/slides/slide12.xml" Id="Radfe33f427e4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1c424de4d6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0b698e4e946ac" /><Relationship Type="http://schemas.openxmlformats.org/officeDocument/2006/relationships/notesMaster" Target="/ppt/notesMasters/notesMaster1.xml" Id="Rb5908d556ca6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4139cc84c4970" /><Relationship Type="http://schemas.openxmlformats.org/officeDocument/2006/relationships/notesMaster" Target="/ppt/notesMasters/notesMaster1.xml" Id="R9eb9c16ea05e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914ba617544b1" /><Relationship Type="http://schemas.openxmlformats.org/officeDocument/2006/relationships/notesMaster" Target="/ppt/notesMasters/notesMaster1.xml" Id="R5a99e7dee639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cfe087c2c4171" /><Relationship Type="http://schemas.openxmlformats.org/officeDocument/2006/relationships/notesMaster" Target="/ppt/notesMasters/notesMaster1.xml" Id="R95b9be1689e6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09886c44445b2" /><Relationship Type="http://schemas.openxmlformats.org/officeDocument/2006/relationships/notesMaster" Target="/ppt/notesMasters/notesMaster1.xml" Id="Rbb742b029f31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9963441257478f" /><Relationship Type="http://schemas.openxmlformats.org/officeDocument/2006/relationships/notesMaster" Target="/ppt/notesMasters/notesMaster1.xml" Id="Re1044c6aeada42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b1dacb99343d6" /><Relationship Type="http://schemas.openxmlformats.org/officeDocument/2006/relationships/notesMaster" Target="/ppt/notesMasters/notesMaster1.xml" Id="Rfc7a7a82ecbc45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b86565c005493a" /><Relationship Type="http://schemas.openxmlformats.org/officeDocument/2006/relationships/notesMaster" Target="/ppt/notesMasters/notesMaster1.xml" Id="R04fd75e640af47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85c8c537cc46fe" /><Relationship Type="http://schemas.openxmlformats.org/officeDocument/2006/relationships/notesMaster" Target="/ppt/notesMasters/notesMaster1.xml" Id="R5fc1cb6ef511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49ffbb15464c98" /><Relationship Type="http://schemas.openxmlformats.org/officeDocument/2006/relationships/notesMaster" Target="/ppt/notesMasters/notesMaster1.xml" Id="Rfdb1ed19f4324f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3df63621ae44f1" /><Relationship Type="http://schemas.openxmlformats.org/officeDocument/2006/relationships/notesMaster" Target="/ppt/notesMasters/notesMaster1.xml" Id="Rac700e951eef44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a10034f48f4349" /><Relationship Type="http://schemas.openxmlformats.org/officeDocument/2006/relationships/notesMaster" Target="/ppt/notesMasters/notesMaster1.xml" Id="R749bd1fd4bcc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Media Planner repository README.md, main.py, planner.py. Title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Facts: supported countries in main.py; source/output tables in README.md; workflow inputs in 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main.py endpoints /api/slot-preselection, /api/media-plan and regenerate; planner.py manual slot and diagnostic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cloud setup and data flow; main.py; bigquery_repository.py; cloudbuild.yaml; Dockerfile.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Data flow; BigQueryRepository.fetch_slot_catalog, fetch_historical_performance and fetch_inventory.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planner.py build_candidates / suggest_slots; BigQueryRepository.fetch_slot_catalog; tests/test_planner_rules.py Supermall eligibility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planner.py maximum_slot_budget, plan_media and diagnostics; main.py split deviation notices.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models.py phase validation; planner.py rate availability and split_rows_at_rate_changes; BigQueryRepository.fetch_slot_catalog; tests/test_planner_rules.py.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notes; main.py build_response, regenerate_media_plan and exception handlers; BigQueryRepository.save_plan / get_saved_plan.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Cloud Run target setup / required GCP setup; cloudbuild.yaml, Dockerfile; tests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main.py create_media_plan and regenerate_media_plan reject v2; selection_v2.py module header describes prototype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based on the current system architecture and explicit V2 production block.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ad0d63f5a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1f7c36b254d89" /><Relationship Type="http://schemas.openxmlformats.org/officeDocument/2006/relationships/slideLayout" Target="/ppt/slideLayouts/slideLayout1.xml" Id="R1fe6cbc1e2604c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6cbc1e2604c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904e5d71d4bce" /><Relationship Type="http://schemas.openxmlformats.org/officeDocument/2006/relationships/image" Target="/ppt/media/image.png" Id="R4cc1b951b3934321" /><Relationship Type="http://schemas.openxmlformats.org/officeDocument/2006/relationships/notesSlide" Target="/ppt/notesSlides/notesSlide1.xml" Id="R0f2bb3776f87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568c14f3942b5" /><Relationship Type="http://schemas.openxmlformats.org/officeDocument/2006/relationships/notesSlide" Target="/ppt/notesSlides/notesSlide2.xml" Id="R96afc7a4adf7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1520ecacc40c3" /><Relationship Type="http://schemas.openxmlformats.org/officeDocument/2006/relationships/notesSlide" Target="/ppt/notesSlides/notesSlide3.xml" Id="R766139b14796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39a34502e4cb9" /><Relationship Type="http://schemas.openxmlformats.org/officeDocument/2006/relationships/notesSlide" Target="/ppt/notesSlides/notesSlide4.xml" Id="Re24cfa142d66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7b0cd291843b3" /><Relationship Type="http://schemas.openxmlformats.org/officeDocument/2006/relationships/notesSlide" Target="/ppt/notesSlides/notesSlide5.xml" Id="Rae4e2efbf522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12087e68d45cf" /><Relationship Type="http://schemas.openxmlformats.org/officeDocument/2006/relationships/notesSlide" Target="/ppt/notesSlides/notesSlide6.xml" Id="R6ff78476d88449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af8c721304f00" /><Relationship Type="http://schemas.openxmlformats.org/officeDocument/2006/relationships/notesSlide" Target="/ppt/notesSlides/notesSlide7.xml" Id="R27e7c29c93a2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380e696ca4fa5" /><Relationship Type="http://schemas.openxmlformats.org/officeDocument/2006/relationships/notesSlide" Target="/ppt/notesSlides/notesSlide8.xml" Id="R8010e359f8bb44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5ef6c2f3145ee" /><Relationship Type="http://schemas.openxmlformats.org/officeDocument/2006/relationships/notesSlide" Target="/ppt/notesSlides/notesSlide9.xml" Id="R397fbd9667b942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e6a49edb94efc" /><Relationship Type="http://schemas.openxmlformats.org/officeDocument/2006/relationships/notesSlide" Target="/ppt/notesSlides/notesSlide10.xml" Id="Rdbb461fbcf2345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77f50034412f" /><Relationship Type="http://schemas.openxmlformats.org/officeDocument/2006/relationships/notesSlide" Target="/ppt/notesSlides/notesSlide11.xml" Id="R6908d133788549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47d50ae404e23" /><Relationship Type="http://schemas.openxmlformats.org/officeDocument/2006/relationships/notesSlide" Target="/ppt/notesSlides/notesSlide12.xml" Id="Red1e38ffc44349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FC9EA-4096-438E-98DB-14321E0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B800-EA4E-49F0-A721-EA99E2F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1b951b3934321"/>
          <a:stretch xmlns:a="http://schemas.openxmlformats.org/drawingml/2006/main"/>
        </p:blipFill>
        <p:spPr>
          <a:xfrm xmlns:a="http://schemas.openxmlformats.org/drawingml/2006/main">
            <a:off x="666750" y="676866"/>
            <a:ext cx="1809750" cy="57031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A33C7-E665-4556-A05B-B300B57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AA44C-590E-409E-AD00-D5125D4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6E7F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6E7F5"/>
                </a:solidFill>
                <a:latin typeface="Aptos"/>
                <a:ea typeface="Aptos"/>
                <a:cs typeface="Aptos"/>
              </a:rPr>
              <a:t>A governed, data-backed workflow for faster onsite media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02A18-E837-41AE-AA59-1A5EF87C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9894A-EDF7-4BBB-9119-E180B0B5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Management, Product &amp; Technology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03FE1-D781-4797-ACB3-395B037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9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9D9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16087-907D-4512-BBA3-A72EC8D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BB07B-EE31-45E8-AE34-28FC9A7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574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1EF23-2B09-4DF7-AF25-B7CEFC0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76725"/>
            <a:ext cx="290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08798-4E4B-4127-9A56-9B9FCA6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with evidence.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 with the approved card.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 every decision.</a:t>
            </a:r>
          </a:p>
        </p:txBody>
      </p:sp>
    </p:spTree>
    <p:extLst>
      <p:ext uri="{BB962C8B-B14F-4D97-AF65-F5344CB8AC3E}">
        <p14:creationId xmlns:p14="http://schemas.microsoft.com/office/powerpoint/2010/main" val="2068437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BB0A5-E2CA-487A-BD3A-E43F5B9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The management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757E2-1C7B-4897-83A8-124DE01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Media Planner converts a fragmented planning exercise into a traceable, repeatable decision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1CD14-5837-4CC8-8759-158F5A0F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935F0-4F9C-4734-91BB-700D657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9A478-9AA9-4D6A-B52E-1DE9AD2E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FCABF-B731-47A2-92E8-EC2B56A5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47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markets currently supported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3E82D-4E50-461F-96AE-41D1085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AE, SA and 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EA998-50CF-471F-867C-621461F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19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FB2C2-A096-4B14-8548-F15FFB5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F6728-4868-43B0-A1B0-3C7C413C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BigQuery source domains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20D35-C362-4028-AC40-180A702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Rates, inventory, historic delivery, bookings and more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EB6B8-507C-4811-8D6B-6F3339C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C7C80-F635-4C63-B305-76351C3A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EF0C1-1C0A-4E5F-A774-61313AA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47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persisted 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D2AC5-9BF3-4320-9A25-BED3F60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Plan run plus line-level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69F68-2098-47C3-987B-2840CBA3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16C47-A298-40C3-8DE3-7BEDF94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single planning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0EEB-022D-457C-9E40-40CF41E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Inputs capture brand, category, country, campaign window, budget, marketplace split, phases and objective.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F3A57-FC7D-40BD-A347-49B3FBE3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9E82A-FE56-4B18-87A0-1D62286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Commercial rules stay explicit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205BE-A3B4-4F9B-AF6C-182C5EA0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71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Rate-card validation, booking history, availability and allocation limits prevent an attractive plan from becoming an unbookable one.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6A1D4-384A-459F-A94D-E437BA1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A8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99CE5-53A8-4DED-9A41-B48DC22C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Every plan has a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FBD99-51B5-46A6-9061-08C5E088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API saves the request, output, diagnostics and plan code in BigQuery so teams can reload and regenerate the same plan.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E6BAF-C3A2-41D7-9395-202F04F6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AF6F8-3569-4760-87CD-DB7D32C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Designed for operator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A93B4-B548-428C-BB85-7C4BF085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Planners can inspect recommendations, choose pricing, add approved manual slots and review feasibility notices before finalizing.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C27FE-A642-4B13-A8E3-3DAE243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80298-A84D-447A-ABF3-128755A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8690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C9095-9D48-4765-8A5E-2F6EE57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Planner experience: guided choice with 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36AC3-64BD-4EBE-AAA4-D03F5EC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product keeps the planner in the decision loop while automating evidence gathering and allocation.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C8108-09AD-4A61-8D48-C4D1F2C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5FD11-C442-41FB-A053-22D3311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0D92-CA1E-44E1-A655-0E9D920E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1. Define campaign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81BB0-6455-4103-91A3-8622682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5049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Brand, comcat, markets, dates, net budget, objective and splits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59538-BF66-487C-851E-7874AE7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CC900-D5A9-4B24-A9DA-86458BB9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764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2. Review shortlist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5AD43-F8B5-4A89-BF82-43973A9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15049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Eligible slots show pricing options, predicted performance, availability and rationale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A6387-1E76-4040-B00B-9EBE865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5FE47-0A30-4AE8-9EEC-FA0D5E37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3. Build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34BCA-A890-4DEF-A22F-D177D21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5049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Planner selects slots or adds an approved manual placement; engine allocates by phase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0DD22-9630-4E00-A6ED-BB39335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6BB24-7DB0-4D93-8856-654C7B0E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4. Inspect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ECD3D-B73A-459E-BCD9-8A05074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15049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Plan shows spend, views, expected CTR/RoAS, confidence and split feasibility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EA2C0-3052-4C96-95C3-8426E0F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2974A-B7F5-4D81-934E-B371D273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764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A82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A825"/>
                </a:solidFill>
                <a:latin typeface="Aptos"/>
                <a:ea typeface="Aptos"/>
                <a:cs typeface="Aptos"/>
              </a:rPr>
              <a:t>5. Save or regenerate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C35CC-A28F-45EF-9F36-7E4259D7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5049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BigQuery-backed plan code supports reload, exclusions and replacement suggestions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2915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199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01065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6BC17-6553-4C9E-A7D3-C9D0F4C2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Key product principle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60B51-7789-4493-AC44-022030E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Recommendations are a starting point, not a black box. The planner can review the evidence and make controlled exceptions.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106B9-5301-43C3-BC94-6081054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AC6B6-4350-4C4A-85B8-D2D8DCB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2176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F8F35-A30D-4A73-92FC-592F3A6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Architecture: a focused API layer between planners and governed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A892D-03D6-4D30-91B7-E8526D8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Cloud Run hosts the FastAPI service. BigQuery provides both planning inputs and saved-plan persistence.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58C67-1362-43A1-8427-3A1BA2E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5C146-1229-42A6-A340-D03AACA5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8B8E2-B4C7-4F0B-B9BB-AAAB5F9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2028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Web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09C3F-1727-4822-9B65-5502228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20288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Single-page HTML experience</a:t>
            </a:r>
          </a:p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Requests and plan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5E669-6571-4205-B39F-BF07C21C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000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F7F5A-5D5C-4740-ACDE-8001060F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33575"/>
            <a:ext cx="2695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FastAPI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4CA49-39F5-4550-94C8-ED2F228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19325"/>
            <a:ext cx="26955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Validation, error handling, FX cache, planning endpoints and response summaries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43509-AF01-4584-9D2D-56D1CE5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E9F1E-85E2-4EC5-9B40-C96AA5F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193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BigQuery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4D1B3-5100-4EC3-A64F-057AFC4C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05075"/>
            <a:ext cx="2362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Reads planning data and writes runs / line items through Application Default Credentials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62275" y="28098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6125" y="2809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D1857-9A85-44F7-AF36-C21978A5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3000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663A3-F9B4-485B-AE67-2CAAF556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910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Planning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6C6D6-EB06-4F71-9B62-58F1E7C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767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Eligibility + recommendations</a:t>
            </a:r>
          </a:p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Deterministic allocation</a:t>
            </a:r>
          </a:p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Rate-window line splitting</a:t>
            </a:r>
          </a:p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Diagnostics and plan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BEC23-B9BA-4AA3-9BD0-403C5CB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CBB59-1BD6-4BC4-BF42-D84A0929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910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Deployment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7854C-0D5B-4A0B-B188-C36473C0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76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Cloud Run: europe-west1</a:t>
            </a:r>
          </a:p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Runtime service account</a:t>
            </a:r>
          </a:p>
          <a:p xmlns:a="http://schemas.openxmlformats.org/drawingml/2006/main">
            <a:pPr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BigQuery billing/query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9C361-7588-4BB5-A1DD-DCCE246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DB0DC-ACA9-40EC-B954-5D54630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1433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24D90-1422-4AFA-81E6-F7F155E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Data foundation: each decision links to a governed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D3271-F19D-4896-93F1-CAC01E09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repository resolves data into an eligible slot catalogue, historical performance pool and time-bounded inventory.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4BC60-F2D3-4AE8-B566-D9B8A55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657350"/>
          <a:ext xmlns:a="http://schemas.openxmlformats.org/drawingml/2006/main" cx="109347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4000500"/>
                <a:gridCol w="4933950"/>
              </a:tblGrid>
              <a:tr h="5080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Domain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Planning use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Representative source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Slot catalogue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Placement metadata, page, zone, dimensions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slot_base_data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Approved rate cards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CPM / CPD and daily Q4 rate schedules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slot_rate_card_base; rate_card_Q4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Bookings &amp; availability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Eligibility gate and forecasted inventory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adgroup_booked_delivered; forecasting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Historic performance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Views, clicks, spend, revenue, CTR and RoAS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campaign_delivery_data_past_performance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Plan persistence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Request, summary, diagnostics and plan lines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media_plan_runs; media_plan_lines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4DE80-ABA9-4D8C-A208-CF284930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A718-C8EC-4501-B106-194D25F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planner does not fabricate commercial inputs. A plan can only use an approved price, eligible inventory and a valid service-date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B9A5C-9AE7-423D-AEBD-AF9CF4A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C9ED3-5B7C-4FD8-B698-78110FEC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0625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90CA2-A649-4E27-AD38-7F09357D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Recommendation logic: filter for feasibility, then rank for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4C51-6DB7-4F90-9E10-78073AAF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engine narrows inventory before prioritising placements that match the campaign objective and commercial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EEABE-2BF7-48A6-BBE5-78F2D1E0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7D98A-A0C8-4F69-8AAA-D6D26038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F159E-A648-4261-A176-76F1C156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Candidate pool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5E98-8B60-49F2-B182-DF16E173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8859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Slot catalogue and historical delivery joined by country /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760B9-EC13-43CA-9E91-A15A325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CCA3B-234F-45D4-9386-14E2A978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240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Eligibility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A5C3A-C651-445A-B177-D5BBDF84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9825"/>
            <a:ext cx="18859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Forecast availability, rate validity, booking history, country, marketplace and comcat relevance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25D9E-17B0-4279-A00D-9606AF91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0AF66-C8FF-41D1-9BA4-24A782F6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240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A82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A825"/>
                </a:solidFill>
                <a:latin typeface="Aptos"/>
                <a:ea typeface="Aptos"/>
                <a:cs typeface="Aptos"/>
              </a:rPr>
              <a:t>Performance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BA5EB-A4CB-474B-90A0-69A5BE3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9825"/>
            <a:ext cx="18859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Visibility, CTR, RoAS, brand affinity, comcat relevance, trend and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FA196-3FC1-48FB-95B1-4CCC4A22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3AD5C-7E0E-4062-B53B-9C5CA063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Shortlist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E882D-3C2C-4723-8EBD-13CEF0E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18859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Objective-aware diversity across page families and marketplace shares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19400" y="2809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81650" y="2809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43900" y="2809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94291-542C-4FA4-81A5-01A20BEF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Confidence handling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ED3A3-8556-415E-89F5-4E1DA18E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Sparse but rate-valid Supermall placements remain discoverable with lower confidence rather than disappearing from the eligible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870C8-2526-4C5D-A212-2CC788A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AC0E0-00C1-4EEE-853C-DBB8DF8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2488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8407B-95C0-47EA-B007-78A7F772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Allocation logic: spend the budget inside a clear set of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F216E-8B52-427F-85B4-A5ACEC8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live V1 engine is deterministic and rule-based. It creates editable lines, then reports when the requested split is infeasible.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2E818-ABF8-43FD-BFD6-514F630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571625"/>
          <a:ext xmlns:a="http://schemas.openxmlformats.org/drawingml/2006/main" cx="10934700" cy="33051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28800"/>
                <a:gridCol w="5476875"/>
                <a:gridCol w="3629025"/>
              </a:tblGrid>
              <a:tr h="5508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How the engine applies it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Operator outcome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Budget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On-deck budget ceiling, discounted net price and minimum CPM block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Spend is allocated in bookable units</a:t>
                      </a:r>
                    </a:p>
                  </a:txBody>
                  <a:tcPr marL="91440" marR="91440" marT="45720" marB="45720"/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Marketplace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Core / Supermall target shares; Core has a 35% per-slot cap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Scarce Supermall can absorb its requested share</a:t>
                      </a:r>
                    </a:p>
                  </a:txBody>
                  <a:tcPr marL="91440" marR="91440" marT="45720" marB="45720"/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Phases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Non-overlapping 09:00 service windows and phase budget splits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Slot windows do not collide</a:t>
                      </a:r>
                    </a:p>
                  </a:txBody>
                  <a:tcPr marL="91440" marR="91440" marT="45720" marB="45720"/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Diversity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Avoid repeated category-zone use per phase and prefer unused generated slots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More balanced placement mix</a:t>
                      </a:r>
                    </a:p>
                  </a:txBody>
                  <a:tcPr marL="91440" marR="91440" marT="45720" marB="45720"/>
                </a:tc>
              </a:tr>
              <a:tr h="5508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Feasibility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Diagnostics compare requested and actual brand, phase, marketplace, comcat and objective splits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Closest feasible draft stays reviewable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60ABF-7126-41EC-B546-76E922D0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Management implication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98907-6449-4A1E-B0CC-CC612C4E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product treats a constrained plan as an informed draft with an explanation, rather than a silent failure or false precision.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3A067-D0FD-4C5F-9AC6-CDEF72B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85C9C-62E8-4D73-91A4-74E2F22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7957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5A2A7-1D8D-41AB-AF41-2A5C41A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Pricing and date controls protect commercial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30B13-06F4-4D48-9594-62D2D92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planner calculates a plan over 09:00-to-09:00 service windows and validates prices against the applicable rate card.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4283D-D470-4DEF-B573-AC7BA9AA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7DA69-FA94-4E8E-A1A3-FC869A5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E2903-6885-4948-AC3C-751B36F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314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Campaign / phase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478D0-6B42-4638-8194-55E5EEB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314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end date is a closing boundary. Adjacent phases may touch at the same 09:00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204C1-9599-49FF-9FD6-7B79E0A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29051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90ECB-DE27-4F32-A504-C768D7FA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6450"/>
            <a:ext cx="2600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Rate-window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8A4F5-C302-43B3-BB56-94B256C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62200"/>
            <a:ext cx="26003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A booked slot needs an approved CPM or CPD rate for its service period. Q4 daily cards require every applicable 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BDD91-BA78-4463-984F-81B9B5AA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97251-0473-457F-B2E1-62D80B5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A82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A825"/>
                </a:solidFill>
                <a:latin typeface="Aptos"/>
                <a:ea typeface="Aptos"/>
                <a:cs typeface="Aptos"/>
              </a:rPr>
              <a:t>Line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2B111-E598-475C-BC75-988199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engine splits a line at a price change, preserving view and amount totals across the split.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48025" y="2738438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738438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13A56-A392-48CD-AE25-BB0EC1E3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42B19-4445-46D1-9132-17C6A3E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Commercial safeguards in the eligible catalogue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ADD18-54E6-4631-9D1C-C7352DE7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Unpriced inventory cannot become a commercial recommendation. Homepage CPD is gated below a USD 15,000 on-deck budget, while a planner’s manual selection remains visible as a controlled exception.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2BEA6-A7A5-4E33-A8CB-BD6E7ACC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75780-EB5D-4C19-B86B-1BBDD55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5421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A800F-1578-4818-99C7-9BDCD7B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Saved plans support traceability, iteration and operational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08A67-30C6-425B-AFE2-DF3EAED8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Persisted plan codes make a generated plan an auditable business object rather than a transient calculation.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C60FA-2E41-4994-9046-58B26E9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7B464-B128-461E-AC00-37374FA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76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ED25-11C7-4635-90BD-40F7F39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13774-FD9B-431B-9D8C-8C0A25D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4574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API writes the request context, summary and diagnostics to media_plan_runs; line items go to media_plan_lines.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A1EFF-CFBB-447B-8AE4-4BA65ED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76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0B3A1-8646-40E8-A9D7-B44A599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240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Reload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EC64F-530A-4710-9149-C77D6E67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24574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A plan code retrieves the stored record and displays the original plan through the hosted app URL.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FF5CA-D365-4A77-8A2A-F2E414C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76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A710E-5B28-4AC0-8722-42D815E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240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Regenerate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A320C-F4EF-40B5-8F56-3E6CB17E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9825"/>
            <a:ext cx="24574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planner can exclude slots. The service retains valid choices and adds replacements from a refreshed recommendation pool.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90900" y="27622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67600" y="27622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9E0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3939-26D0-4FA0-969C-8C00CCF0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What teams can rely 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9BD49-A678-461E-BB1D-71A5796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2937A-027F-4B6D-9D30-BBC4D0BD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Business continuity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76D8E-2B52-43C8-AD3D-02D66251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A saved plan can be reopened without depending on a planner’s local session.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35653-D1B5-46B8-AE75-5C22AF7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93D7D-0AA8-4E09-9EB8-46377A0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Engineering observability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9C029-5DDE-485A-A16D-C17E0620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911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Error responses distinguish input, BigQuery access and unexpected application failures with a reference code.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93368-DD65-4F86-83A0-90DE60F5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666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A8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6BF8F-D805-4B0E-A264-B0A648B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Product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69C71-62F6-4BDA-9FA3-377136EC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911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Stored diagnostics reveal where demand, rate cards or constraints prevent the desired plan mix.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55DFC-B161-4A86-9C07-B79B71D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32878-F663-47DB-BF63-7DFA2D9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7731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E9C9F-7B6F-486E-8210-CA0EF68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Operating model: clear data, platform and product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87668-F09D-4B0B-8EAE-F6BBB1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solution has a lightweight runtime footprint, while quality depends on well-maintained commercial data and explicit ownership.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55BC9-1693-441A-9192-546C20D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3190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5476875"/>
                <a:gridCol w="3648075"/>
              </a:tblGrid>
              <a:tr h="5318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control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Recommended accountable team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Runtime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Cloud Run in europe-west1; container starts FastAPI / Uvicorn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Platform Engineering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Runtime service account with BigQuery read, write and job permissions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Platform + Data Governance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Planning sources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Rates, bookings, forecast, delivery and catalogue supply the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BI / Commercial Operations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Rules and UX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Eligibility, allocation diagnostics and controlled manual choices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Product + Media Planning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Quality assurance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Unit tests cover rate changes, phase boundaries, category relevance and constraints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Engineering + QA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5D9CE-D4D9-432C-B80A-865D38C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62828"/>
                </a:solidFill>
                <a:latin typeface="Aptos"/>
                <a:ea typeface="Aptos"/>
                <a:cs typeface="Aptos"/>
              </a:rPr>
              <a:t>Risk to manage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BD7D9-DA79-486C-9963-46518DC0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23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planner can only be as current as the rate card, forecast and booking data. Ownership and freshness checks should sit alongside feature rollout.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93E6E-3508-44F4-8507-7FD183A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A0510-A488-4DA4-A7AD-4097045C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3080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3276D-5012-423B-962A-94A4224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Maturity path: scale confidence before expanding optimisation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E0231-166F-492F-A02C-66C8C6B5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live V1 engine remains the production path. V2 is an isolated prototype and should enter production only after rule-parity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D1E66-58EA-46F7-9811-C6A3A76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D63FA-E856-4124-B0DD-75E11A2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9B1D7-1E40-49F1-AC8A-C650615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65C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65C0"/>
                </a:solidFill>
                <a:latin typeface="Aptos"/>
                <a:ea typeface="Aptos"/>
                <a:cs typeface="Aptos"/>
              </a:rPr>
              <a:t>Now: production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E2435-F352-435C-8AD9-52DBBDF3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V1 enforces requested splits, rate cards, budget rules and transparent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Focus: adoption, data freshness and operator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A7850-BAF5-4F7C-AABA-DCBAABA3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621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64609-390A-4572-9462-0005F4B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97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97B"/>
                </a:solidFill>
                <a:latin typeface="Aptos"/>
                <a:ea typeface="Aptos"/>
                <a:cs typeface="Aptos"/>
              </a:rPr>
              <a:t>Next: evidence and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ABD7B-C639-4F74-99F8-536C8B5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Add dashboards for split deviations, inventory shortfalls, rate-card coverage and saved-plan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Focus: measurable planning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F4B84-7CFC-41F8-B2CF-43D700BF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70304-7816-42EB-84AA-7F1AF40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Later: controlled optimisation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93CB8-9B50-4AFE-8E12-A55E95F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Validate V2 eCPM, fill-rate and tiering logic against V1 guardrails before enabling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Focus: experiment design and safe release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BE2FA-F64B-41F6-9CDB-9F7F2BFE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Technical 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8A579-07A3-47E6-BA7B-9A36D9EA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API currently rejects engine=v2 because it does not yet enforce the full Media Planner split, rate-card and budget rule 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3B2F7-8ACB-4773-859C-F7CADC2A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30CC4-50D8-4AFB-BEF0-CA17E182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4916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A7D2-CFC8-4B08-BDA1-7ED62209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B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B32"/>
                </a:solidFill>
                <a:latin typeface="Aptos"/>
                <a:ea typeface="Aptos"/>
                <a:cs typeface="Aptos"/>
              </a:rPr>
              <a:t>Decisions requested to move from capability to operating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B5147-76B2-4F54-8D79-8E4048BB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The immediate objective is not a broader algorithm. It is adoption with accountable data and measurable planning quality.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299D0-50FE-4BB6-9018-D66E8C94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1638300"/>
          <a:ext xmlns:a="http://schemas.openxmlformats.org/drawingml/2006/main" cx="10934700" cy="2819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05125"/>
                <a:gridCol w="5667375"/>
                <a:gridCol w="2362200"/>
              </a:tblGrid>
              <a:tr h="56388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Suggested owner</a:t>
                      </a:r>
                    </a:p>
                  </a:txBody>
                  <a:tcPr marL="91440" marR="91440" marT="45720" marB="45720">
                    <a:solidFill>
                      <a:srgbClr val="101B3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Confirm production pilot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Select markets, campaign types and success criteria for the first operating cohort.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Business / Commercial</a:t>
                      </a:r>
                    </a:p>
                  </a:txBody>
                  <a:tcPr marL="91440" marR="91440" marT="45720" marB="45720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Name data owners and freshness SLAs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Rate cards, forecasts and booking history determine whether an eligible plan can be booked.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BI + Commercial Operations</a:t>
                      </a:r>
                    </a:p>
                  </a:txBody>
                  <a:tcPr marL="91440" marR="91440" marT="45720" marB="45720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Approve product measurement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Track plan utilisation, split deviation reasons, manual exceptions and downstream delivery results.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Product + Analytics</a:t>
                      </a:r>
                    </a:p>
                  </a:txBody>
                  <a:tcPr marL="91440" marR="91440" marT="45720" marB="45720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Set V2 release criteria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Require guardrail parity, back-testing and a controlled rollout before activating the prototype.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4213D"/>
                          </a:solidFill>
                          <a:latin typeface="Aptos"/>
                          <a:ea typeface="Aptos"/>
                          <a:cs typeface="Aptos"/>
                        </a:rPr>
                        <a:t>Engineering + Product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89E0A-49E2-41B4-939C-1339F51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934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B56DC-5F3C-4207-8EC1-1600E089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Proposed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C2620-CEDF-44DF-A4BF-82AD972C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a governed pilot, learn from the saved-plan evidence, then expand the planner with demonstrated commercial and operational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763CF-4F22-41C5-980A-70B89CD7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Noon Media Planner  |  Internal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E7C60-04D5-4AC8-945D-0A7E5F8F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B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0664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2026-09-21T13:35:08.3110000Z</dcterms:created>
  <dcterms:modified xsi:type="dcterms:W3CDTF">2026-09-21T13:35:08.3110000Z</dcterms:modified>
</coreProperties>
</file>